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62" r:id="rId4"/>
    <p:sldId id="256" r:id="rId5"/>
    <p:sldId id="261" r:id="rId6"/>
    <p:sldId id="263" r:id="rId7"/>
    <p:sldId id="260" r:id="rId8"/>
    <p:sldId id="259" r:id="rId9"/>
    <p:sldId id="258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9" Type="http://schemas.openxmlformats.org/officeDocument/2006/relationships/image" Target="../media/image16.wmf"/><Relationship Id="rId8" Type="http://schemas.openxmlformats.org/officeDocument/2006/relationships/image" Target="../media/image15.wmf"/><Relationship Id="rId7" Type="http://schemas.openxmlformats.org/officeDocument/2006/relationships/image" Target="../media/image14.wmf"/><Relationship Id="rId6" Type="http://schemas.openxmlformats.org/officeDocument/2006/relationships/image" Target="../media/image13.wmf"/><Relationship Id="rId5" Type="http://schemas.openxmlformats.org/officeDocument/2006/relationships/image" Target="../media/image12.wmf"/><Relationship Id="rId4" Type="http://schemas.openxmlformats.org/officeDocument/2006/relationships/image" Target="../media/image11.wmf"/><Relationship Id="rId3" Type="http://schemas.openxmlformats.org/officeDocument/2006/relationships/image" Target="../media/image10.wmf"/><Relationship Id="rId2" Type="http://schemas.openxmlformats.org/officeDocument/2006/relationships/image" Target="../media/image9.wmf"/><Relationship Id="rId11" Type="http://schemas.openxmlformats.org/officeDocument/2006/relationships/image" Target="../media/image18.wmf"/><Relationship Id="rId10" Type="http://schemas.openxmlformats.org/officeDocument/2006/relationships/image" Target="../media/image17.wmf"/><Relationship Id="rId1" Type="http://schemas.openxmlformats.org/officeDocument/2006/relationships/image" Target="../media/image8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.bin"/><Relationship Id="rId8" Type="http://schemas.openxmlformats.org/officeDocument/2006/relationships/image" Target="../media/image11.wmf"/><Relationship Id="rId7" Type="http://schemas.openxmlformats.org/officeDocument/2006/relationships/oleObject" Target="../embeddings/oleObject4.bin"/><Relationship Id="rId6" Type="http://schemas.openxmlformats.org/officeDocument/2006/relationships/image" Target="../media/image10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2.bin"/><Relationship Id="rId26" Type="http://schemas.openxmlformats.org/officeDocument/2006/relationships/vmlDrawing" Target="../drawings/vmlDrawing1.vml"/><Relationship Id="rId25" Type="http://schemas.openxmlformats.org/officeDocument/2006/relationships/slideLayout" Target="../slideLayouts/slideLayout7.xml"/><Relationship Id="rId24" Type="http://schemas.openxmlformats.org/officeDocument/2006/relationships/image" Target="../media/image20.png"/><Relationship Id="rId23" Type="http://schemas.openxmlformats.org/officeDocument/2006/relationships/image" Target="../media/image19.png"/><Relationship Id="rId22" Type="http://schemas.openxmlformats.org/officeDocument/2006/relationships/image" Target="../media/image18.wmf"/><Relationship Id="rId21" Type="http://schemas.openxmlformats.org/officeDocument/2006/relationships/oleObject" Target="../embeddings/oleObject11.bin"/><Relationship Id="rId20" Type="http://schemas.openxmlformats.org/officeDocument/2006/relationships/image" Target="../media/image17.wmf"/><Relationship Id="rId2" Type="http://schemas.openxmlformats.org/officeDocument/2006/relationships/image" Target="../media/image8.wmf"/><Relationship Id="rId19" Type="http://schemas.openxmlformats.org/officeDocument/2006/relationships/oleObject" Target="../embeddings/oleObject10.bin"/><Relationship Id="rId18" Type="http://schemas.openxmlformats.org/officeDocument/2006/relationships/image" Target="../media/image16.wmf"/><Relationship Id="rId17" Type="http://schemas.openxmlformats.org/officeDocument/2006/relationships/oleObject" Target="../embeddings/oleObject9.bin"/><Relationship Id="rId16" Type="http://schemas.openxmlformats.org/officeDocument/2006/relationships/image" Target="../media/image15.wmf"/><Relationship Id="rId15" Type="http://schemas.openxmlformats.org/officeDocument/2006/relationships/oleObject" Target="../embeddings/oleObject8.bin"/><Relationship Id="rId14" Type="http://schemas.openxmlformats.org/officeDocument/2006/relationships/image" Target="../media/image14.wmf"/><Relationship Id="rId13" Type="http://schemas.openxmlformats.org/officeDocument/2006/relationships/oleObject" Target="../embeddings/oleObject7.bin"/><Relationship Id="rId12" Type="http://schemas.openxmlformats.org/officeDocument/2006/relationships/image" Target="../media/image13.wmf"/><Relationship Id="rId11" Type="http://schemas.openxmlformats.org/officeDocument/2006/relationships/oleObject" Target="../embeddings/oleObject6.bin"/><Relationship Id="rId10" Type="http://schemas.openxmlformats.org/officeDocument/2006/relationships/image" Target="../media/image12.wmf"/><Relationship Id="rId1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ctrTitle"/>
          </p:nvPr>
        </p:nvSpPr>
        <p:spPr>
          <a:xfrm>
            <a:off x="1061633" y="1910281"/>
            <a:ext cx="10068732" cy="674591"/>
          </a:xfrm>
        </p:spPr>
        <p:txBody>
          <a:bodyPr>
            <a:normAutofit/>
          </a:bodyPr>
          <a:lstStyle/>
          <a:p>
            <a:r>
              <a:rPr lang="zh-CN" altLang="en-US" sz="4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粒子模拟第一次作业</a:t>
            </a:r>
            <a:endParaRPr lang="zh-CN" altLang="en-US" sz="4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TextBox 2"/>
          <p:cNvSpPr txBox="1"/>
          <p:nvPr/>
        </p:nvSpPr>
        <p:spPr>
          <a:xfrm>
            <a:off x="1" y="4695220"/>
            <a:ext cx="1219199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赵世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娟</a:t>
            </a:r>
            <a:endParaRPr lang="zh-CN" alt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58639" y="1009020"/>
            <a:ext cx="100878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在区域为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100*100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的空间中有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20*20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的均匀网格，区域中有均匀分布的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40000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个粒子。编程求出网格点上的粒子数密度（绘图）。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78000"/>
            <a:ext cx="12192000" cy="50800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433705" y="324792"/>
            <a:ext cx="2000816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第一题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5140" y="1228725"/>
            <a:ext cx="8423910" cy="512000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433705" y="324792"/>
            <a:ext cx="2000816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参数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设置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433705" y="324485"/>
            <a:ext cx="631190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最近网格法和一阶权重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法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705" y="1466215"/>
            <a:ext cx="5662295" cy="37426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466215"/>
            <a:ext cx="5380990" cy="45573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495677" y="893658"/>
                <a:ext cx="10377535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just"/>
                <a:r>
                  <a:rPr lang="en-US" altLang="zh-CN" dirty="0"/>
                  <a:t>       </a:t>
                </a:r>
                <a:r>
                  <a:rPr lang="zh-CN" altLang="zh-CN" dirty="0"/>
                  <a:t>在区域为</a:t>
                </a:r>
                <a:r>
                  <a:rPr lang="en-US" altLang="zh-CN" dirty="0"/>
                  <a:t>100*100</a:t>
                </a:r>
                <a:r>
                  <a:rPr lang="zh-CN" altLang="zh-CN" dirty="0"/>
                  <a:t>的空间中有</a:t>
                </a:r>
                <a:r>
                  <a:rPr lang="en-US" altLang="zh-CN" dirty="0"/>
                  <a:t>20*20</a:t>
                </a:r>
                <a:r>
                  <a:rPr lang="zh-CN" altLang="zh-CN" dirty="0"/>
                  <a:t>的均匀网格，网格上分布的电场满足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zh-CN" altLang="zh-CN" dirty="0"/>
                  <a:t>。</a:t>
                </a:r>
                <a:r>
                  <a:rPr lang="en-US" altLang="zh-CN" dirty="0" err="1"/>
                  <a:t>i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j</a:t>
                </a:r>
                <a:r>
                  <a:rPr lang="zh-CN" altLang="zh-CN" dirty="0"/>
                  <a:t>为</a:t>
                </a:r>
                <a:r>
                  <a:rPr lang="en-US" altLang="zh-CN" dirty="0"/>
                  <a:t>x</a:t>
                </a:r>
                <a:r>
                  <a:rPr lang="zh-CN" altLang="zh-CN" dirty="0"/>
                  <a:t>和</a:t>
                </a:r>
                <a:r>
                  <a:rPr lang="en-US" altLang="zh-CN" dirty="0"/>
                  <a:t>y</a:t>
                </a:r>
                <a:r>
                  <a:rPr lang="zh-CN" altLang="zh-CN" dirty="0"/>
                  <a:t>方向的网格点序号，编程求粒子在（</a:t>
                </a:r>
                <a:r>
                  <a:rPr lang="en-US" altLang="zh-CN" dirty="0"/>
                  <a:t>35.5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45.6</a:t>
                </a:r>
                <a:r>
                  <a:rPr lang="zh-CN" altLang="zh-CN" dirty="0"/>
                  <a:t>），（</a:t>
                </a:r>
                <a:r>
                  <a:rPr lang="en-US" altLang="zh-CN" dirty="0"/>
                  <a:t>38.1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58.8</a:t>
                </a:r>
                <a:r>
                  <a:rPr lang="zh-CN" altLang="zh-CN" dirty="0"/>
                  <a:t>）和（</a:t>
                </a:r>
                <a:r>
                  <a:rPr lang="en-US" altLang="zh-CN" dirty="0"/>
                  <a:t>78.7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65.7</a:t>
                </a:r>
                <a:r>
                  <a:rPr lang="zh-CN" altLang="zh-CN" dirty="0"/>
                  <a:t>）处电场。</a:t>
                </a:r>
                <a:endParaRPr lang="zh-CN" altLang="zh-CN" dirty="0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77" y="893658"/>
                <a:ext cx="10377535" cy="646331"/>
              </a:xfrm>
              <a:prstGeom prst="rect">
                <a:avLst/>
              </a:prstGeom>
              <a:blipFill rotWithShape="1">
                <a:blip r:embed="rId1"/>
                <a:stretch>
                  <a:fillRect l="-4" t="-33" r="1" b="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7683500" y="2639060"/>
                <a:ext cx="3242310" cy="11988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结果：</a:t>
                </a:r>
                <a:endParaRPr lang="en-US" altLang="zh-CN" dirty="0"/>
              </a:p>
              <a:p>
                <a:r>
                  <a:rPr lang="zh-CN" altLang="zh-CN" dirty="0"/>
                  <a:t>（</a:t>
                </a:r>
                <a:r>
                  <a:rPr lang="en-US" altLang="zh-CN" dirty="0"/>
                  <a:t>35.5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45.6</a:t>
                </a:r>
                <a:r>
                  <a:rPr lang="zh-CN" altLang="zh-CN" dirty="0"/>
                  <a:t>）</a:t>
                </a:r>
                <a:r>
                  <a:rPr lang="en-US" altLang="zh-CN" dirty="0"/>
                  <a:t> </a:t>
                </a:r>
                <a:r>
                  <a:rPr lang="zh-CN" altLang="en-US" dirty="0"/>
                  <a:t>：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22</m:t>
                    </m:r>
                  </m:oMath>
                </a14:m>
                <a:endParaRPr lang="en-US" altLang="zh-CN" dirty="0"/>
              </a:p>
              <a:p>
                <a:r>
                  <a:rPr lang="zh-CN" altLang="zh-CN" dirty="0"/>
                  <a:t>（</a:t>
                </a:r>
                <a:r>
                  <a:rPr lang="en-US" altLang="zh-CN" dirty="0"/>
                  <a:t>38.1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58.8</a:t>
                </a:r>
                <a:r>
                  <a:rPr lang="zh-CN" altLang="zh-CN" dirty="0"/>
                  <a:t>）</a:t>
                </a:r>
                <a:r>
                  <a:rPr lang="en-US" altLang="zh-CN" dirty="0"/>
                  <a:t> </a:t>
                </a:r>
                <a:r>
                  <a:rPr lang="zh-CN" altLang="en-US" dirty="0"/>
                  <a:t>：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19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38</m:t>
                    </m:r>
                  </m:oMath>
                </a14:m>
                <a:endParaRPr lang="en-US" altLang="zh-CN" dirty="0"/>
              </a:p>
              <a:p>
                <a:r>
                  <a:rPr lang="zh-CN" altLang="zh-CN" dirty="0"/>
                  <a:t>（</a:t>
                </a:r>
                <a:r>
                  <a:rPr lang="en-US" altLang="zh-CN" dirty="0"/>
                  <a:t>78.7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65.7</a:t>
                </a:r>
                <a:r>
                  <a:rPr lang="zh-CN" altLang="zh-CN" dirty="0"/>
                  <a:t>）</a:t>
                </a:r>
                <a:r>
                  <a:rPr lang="en-US" altLang="zh-CN" dirty="0"/>
                  <a:t> </a:t>
                </a:r>
                <a:r>
                  <a:rPr lang="zh-CN" altLang="en-US" dirty="0"/>
                  <a:t>：</a:t>
                </a: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en-US" altLang="zh-CN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zh-CN" i="1" smtClean="0">
                        <a:latin typeface="Cambria Math" panose="02040503050406030204" pitchFamily="18" charset="0"/>
                      </a:rPr>
                      <m:t>88</m:t>
                    </m:r>
                  </m:oMath>
                </a14:m>
                <a:endParaRPr lang="en-US" altLang="zh-CN" dirty="0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3500" y="2639060"/>
                <a:ext cx="3242310" cy="1198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5" y="1567180"/>
            <a:ext cx="7054215" cy="529082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433705" y="324792"/>
            <a:ext cx="2000816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第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二题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650326" y="1603618"/>
          <a:ext cx="5081031" cy="7053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9" name="AxMath" r:id="rId1" imgW="914400" imgH="914400" progId="Equation.AxMath">
                  <p:embed/>
                </p:oleObj>
              </mc:Choice>
              <mc:Fallback>
                <p:oleObj name="AxMath" r:id="rId1" imgW="914400" imgH="914400" progId="Equation.AxMath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50326" y="1603618"/>
                        <a:ext cx="5081031" cy="7053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641786" y="2406547"/>
          <a:ext cx="5089571" cy="7017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0" name="AxMath" r:id="rId3" imgW="914400" imgH="914400" progId="Equation.AxMath">
                  <p:embed/>
                </p:oleObj>
              </mc:Choice>
              <mc:Fallback>
                <p:oleObj name="AxMath" r:id="rId3" imgW="914400" imgH="914400" progId="Equation.AxMath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41786" y="2406547"/>
                        <a:ext cx="5089571" cy="7017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641786" y="3604195"/>
          <a:ext cx="5077516" cy="7340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1" name="AxMath" r:id="rId5" imgW="914400" imgH="914400" progId="Equation.AxMath">
                  <p:embed/>
                </p:oleObj>
              </mc:Choice>
              <mc:Fallback>
                <p:oleObj name="AxMath" r:id="rId5" imgW="914400" imgH="914400" progId="Equation.AxMath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1786" y="3604195"/>
                        <a:ext cx="5077516" cy="7340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641786" y="4841081"/>
          <a:ext cx="9172576" cy="182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2" name="AxMath" r:id="rId7" imgW="914400" imgH="914400" progId="Equation.AxMath">
                  <p:embed/>
                </p:oleObj>
              </mc:Choice>
              <mc:Fallback>
                <p:oleObj name="AxMath" r:id="rId7" imgW="914400" imgH="914400" progId="Equation.AxMath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1786" y="4841081"/>
                        <a:ext cx="9172576" cy="182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10440988" y="4097338"/>
          <a:ext cx="115252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3" name="AxMath" r:id="rId9" imgW="914400" imgH="914400" progId="Equation.AxMath">
                  <p:embed/>
                </p:oleObj>
              </mc:Choice>
              <mc:Fallback>
                <p:oleObj name="AxMath" r:id="rId9" imgW="914400" imgH="914400" progId="Equation.AxMath">
                  <p:embed/>
                  <p:pic>
                    <p:nvPicPr>
                      <p:cNvPr id="0" name="对象 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0440988" y="4097338"/>
                        <a:ext cx="115252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/>
          <p:cNvSpPr/>
          <p:nvPr/>
        </p:nvSpPr>
        <p:spPr>
          <a:xfrm>
            <a:off x="7795034" y="1173603"/>
            <a:ext cx="2869948" cy="285518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" name="对象 13"/>
          <p:cNvGraphicFramePr>
            <a:graphicFrameLocks noChangeAspect="1"/>
          </p:cNvGraphicFramePr>
          <p:nvPr/>
        </p:nvGraphicFramePr>
        <p:xfrm>
          <a:off x="7224713" y="4097338"/>
          <a:ext cx="113982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4" name="AxMath" r:id="rId11" imgW="914400" imgH="914400" progId="Equation.AxMath">
                  <p:embed/>
                </p:oleObj>
              </mc:Choice>
              <mc:Fallback>
                <p:oleObj name="AxMath" r:id="rId11" imgW="914400" imgH="914400" progId="Equation.AxMath">
                  <p:embed/>
                  <p:pic>
                    <p:nvPicPr>
                      <p:cNvPr id="0" name="对象 12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224713" y="4097338"/>
                        <a:ext cx="113982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10363200" y="630238"/>
          <a:ext cx="113982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5" name="AxMath" r:id="rId13" imgW="914400" imgH="914400" progId="Equation.AxMath">
                  <p:embed/>
                </p:oleObj>
              </mc:Choice>
              <mc:Fallback>
                <p:oleObj name="AxMath" r:id="rId13" imgW="914400" imgH="914400" progId="Equation.AxMath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363200" y="630238"/>
                        <a:ext cx="113982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/>
          <p:cNvGraphicFramePr>
            <a:graphicFrameLocks noChangeAspect="1"/>
          </p:cNvGraphicFramePr>
          <p:nvPr/>
        </p:nvGraphicFramePr>
        <p:xfrm>
          <a:off x="7232650" y="685800"/>
          <a:ext cx="1123950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6" name="AxMath" r:id="rId15" imgW="914400" imgH="914400" progId="Equation.AxMath">
                  <p:embed/>
                </p:oleObj>
              </mc:Choice>
              <mc:Fallback>
                <p:oleObj name="AxMath" r:id="rId15" imgW="914400" imgH="914400" progId="Equation.AxMath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7232650" y="685800"/>
                        <a:ext cx="1123950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椭圆 16"/>
          <p:cNvSpPr/>
          <p:nvPr/>
        </p:nvSpPr>
        <p:spPr>
          <a:xfrm>
            <a:off x="8474043" y="1982466"/>
            <a:ext cx="72428" cy="7882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8" name="对象 17"/>
          <p:cNvGraphicFramePr>
            <a:graphicFrameLocks noChangeAspect="1"/>
          </p:cNvGraphicFramePr>
          <p:nvPr/>
        </p:nvGraphicFramePr>
        <p:xfrm>
          <a:off x="8629650" y="1558925"/>
          <a:ext cx="852488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7" name="AxMath" r:id="rId17" imgW="914400" imgH="914400" progId="Equation.AxMath">
                  <p:embed/>
                </p:oleObj>
              </mc:Choice>
              <mc:Fallback>
                <p:oleObj name="AxMath" r:id="rId17" imgW="914400" imgH="914400" progId="Equation.AxMath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8629650" y="1558925"/>
                        <a:ext cx="852488" cy="433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直接连接符 2"/>
          <p:cNvCxnSpPr/>
          <p:nvPr/>
        </p:nvCxnSpPr>
        <p:spPr>
          <a:xfrm>
            <a:off x="8510257" y="1173603"/>
            <a:ext cx="4526" cy="2855189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椭圆 25"/>
          <p:cNvSpPr/>
          <p:nvPr/>
        </p:nvSpPr>
        <p:spPr>
          <a:xfrm>
            <a:off x="8458199" y="1102519"/>
            <a:ext cx="104116" cy="125412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8458199" y="3966086"/>
            <a:ext cx="104116" cy="125412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8" name="对象 27"/>
          <p:cNvGraphicFramePr>
            <a:graphicFrameLocks noChangeAspect="1"/>
          </p:cNvGraphicFramePr>
          <p:nvPr/>
        </p:nvGraphicFramePr>
        <p:xfrm>
          <a:off x="8563883" y="694995"/>
          <a:ext cx="101917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8" name="AxMath" r:id="rId19" imgW="914400" imgH="914400" progId="Equation.AxMath">
                  <p:embed/>
                </p:oleObj>
              </mc:Choice>
              <mc:Fallback>
                <p:oleObj name="AxMath" r:id="rId19" imgW="914400" imgH="914400" progId="Equation.AxMath">
                  <p:embed/>
                  <p:pic>
                    <p:nvPicPr>
                      <p:cNvPr id="0" name="对象 15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563883" y="694995"/>
                        <a:ext cx="101917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对象 28"/>
          <p:cNvGraphicFramePr>
            <a:graphicFrameLocks noChangeAspect="1"/>
          </p:cNvGraphicFramePr>
          <p:nvPr/>
        </p:nvGraphicFramePr>
        <p:xfrm>
          <a:off x="8661400" y="3522663"/>
          <a:ext cx="103187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9" name="AxMath" r:id="rId21" imgW="914400" imgH="914400" progId="Equation.AxMath">
                  <p:embed/>
                </p:oleObj>
              </mc:Choice>
              <mc:Fallback>
                <p:oleObj name="AxMath" r:id="rId21" imgW="914400" imgH="914400" progId="Equation.AxMath">
                  <p:embed/>
                  <p:pic>
                    <p:nvPicPr>
                      <p:cNvPr id="0" name="对象 27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8661400" y="3522663"/>
                        <a:ext cx="103187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本框 29"/>
              <p:cNvSpPr txBox="1"/>
              <p:nvPr/>
            </p:nvSpPr>
            <p:spPr>
              <a:xfrm>
                <a:off x="573945" y="1128222"/>
                <a:ext cx="2517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altLang="en-US" dirty="0"/>
                  <a:t>方向进行线性插值</a:t>
                </a:r>
                <a:r>
                  <a:rPr lang="en-US" altLang="zh-CN" dirty="0"/>
                  <a:t>:</a:t>
                </a:r>
                <a:endParaRPr lang="zh-CN" altLang="en-US" dirty="0"/>
              </a:p>
            </p:txBody>
          </p:sp>
        </mc:Choice>
        <mc:Fallback>
          <p:sp>
            <p:nvSpPr>
              <p:cNvPr id="30" name="文本框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945" y="1128222"/>
                <a:ext cx="2517539" cy="369332"/>
              </a:xfrm>
              <a:prstGeom prst="rect">
                <a:avLst/>
              </a:prstGeom>
              <a:blipFill rotWithShape="1">
                <a:blip r:embed="rId23"/>
                <a:stretch>
                  <a:fillRect l="-21" t="-125" r="12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/>
              <p:cNvSpPr txBox="1"/>
              <p:nvPr/>
            </p:nvSpPr>
            <p:spPr>
              <a:xfrm>
                <a:off x="673302" y="3171573"/>
                <a:ext cx="2517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dirty="0"/>
                  <a:t>方向进行线性插值</a:t>
                </a:r>
                <a:r>
                  <a:rPr lang="en-US" altLang="zh-CN" dirty="0"/>
                  <a:t>:</a:t>
                </a:r>
                <a:endParaRPr lang="zh-CN" altLang="en-US" dirty="0"/>
              </a:p>
            </p:txBody>
          </p:sp>
        </mc:Choice>
        <mc:Fallback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302" y="3171573"/>
                <a:ext cx="2517539" cy="369332"/>
              </a:xfrm>
              <a:prstGeom prst="rect">
                <a:avLst/>
              </a:prstGeom>
              <a:blipFill rotWithShape="1">
                <a:blip r:embed="rId24"/>
                <a:stretch>
                  <a:fillRect l="-8" t="-104" r="24" b="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文本框 31"/>
          <p:cNvSpPr txBox="1"/>
          <p:nvPr/>
        </p:nvSpPr>
        <p:spPr>
          <a:xfrm>
            <a:off x="673302" y="4464841"/>
            <a:ext cx="2517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整理可得：</a:t>
            </a:r>
            <a:endParaRPr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0" y="177472"/>
            <a:ext cx="60975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双线性插值方法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/>
          <p:cNvSpPr txBox="1"/>
          <p:nvPr/>
        </p:nvSpPr>
        <p:spPr>
          <a:xfrm>
            <a:off x="0" y="177472"/>
            <a:ext cx="60975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双线性插值方法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7630" y="762000"/>
            <a:ext cx="9477375" cy="58547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WPS 演示</Application>
  <PresentationFormat>宽屏</PresentationFormat>
  <Paragraphs>31</Paragraphs>
  <Slides>7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11</vt:i4>
      </vt:variant>
      <vt:variant>
        <vt:lpstr>幻灯片标题</vt:lpstr>
      </vt:variant>
      <vt:variant>
        <vt:i4>7</vt:i4>
      </vt:variant>
    </vt:vector>
  </HeadingPairs>
  <TitlesOfParts>
    <vt:vector size="32" baseType="lpstr">
      <vt:lpstr>Arial</vt:lpstr>
      <vt:lpstr>宋体</vt:lpstr>
      <vt:lpstr>Wingdings</vt:lpstr>
      <vt:lpstr>Microsoft YaHei UI</vt:lpstr>
      <vt:lpstr>Times New Roman</vt:lpstr>
      <vt:lpstr>Cambria Math</vt:lpstr>
      <vt:lpstr>等线</vt:lpstr>
      <vt:lpstr>微软雅黑</vt:lpstr>
      <vt:lpstr>Arial Unicode MS</vt:lpstr>
      <vt:lpstr>等线 Light</vt:lpstr>
      <vt:lpstr>Calibri</vt:lpstr>
      <vt:lpstr>Consolas</vt:lpstr>
      <vt:lpstr>Office 主题​​</vt:lpstr>
      <vt:lpstr>1_Office 主题​​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粒子模拟第一次作业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yh yang</dc:creator>
  <cp:lastModifiedBy>赵世娟</cp:lastModifiedBy>
  <cp:revision>142</cp:revision>
  <dcterms:created xsi:type="dcterms:W3CDTF">2025-03-10T08:02:00Z</dcterms:created>
  <dcterms:modified xsi:type="dcterms:W3CDTF">2026-03-30T13:26:17Z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F6BC556F925D4B68A624498670B1486F_13</vt:lpwstr>
  </property>
  <property fmtid="{D5CDD505-2E9C-101B-9397-08002B2CF9AE}" pid="3" name="KSOProductBuildVer">
    <vt:lpwstr>2052-12.1.0.25225</vt:lpwstr>
  </property>
</Properties>
</file>